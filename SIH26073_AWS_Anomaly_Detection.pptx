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5" r:id="rId5"/>
    <p:sldId id="264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M0FhCEI4uLyH9p6UFJtTPADAW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4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59596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2286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FE28F39-69E3-81F6-5CFF-37C3885E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8865FB0-966B-015B-9AD3-19B2CC858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A01C647-E89B-551E-1B1F-F8A9E31E5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2D5D417B-BA17-1CB0-D41C-96450C3686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0690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06C95CC9-6076-6821-10A8-C524C262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8F57AEC4-E977-3842-81FD-7E7F44E44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34" name="Google Shape;134;p3:notes">
            <a:extLst>
              <a:ext uri="{FF2B5EF4-FFF2-40B4-BE49-F238E27FC236}">
                <a16:creationId xmlns:a16="http://schemas.microsoft.com/office/drawing/2014/main" id="{1D160523-D580-B2C1-EC7E-73E696D26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5" name="Google Shape;135;p3:notes">
            <a:extLst>
              <a:ext uri="{FF2B5EF4-FFF2-40B4-BE49-F238E27FC236}">
                <a16:creationId xmlns:a16="http://schemas.microsoft.com/office/drawing/2014/main" id="{42A21A39-88A6-093D-D447-11EBB705A0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3188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AEF48D6-C08A-F312-6A7A-4F7563F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650FE6BC-5244-C21F-4C5B-2A68F6EC3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45" name="Google Shape;145;p4:notes">
            <a:extLst>
              <a:ext uri="{FF2B5EF4-FFF2-40B4-BE49-F238E27FC236}">
                <a16:creationId xmlns:a16="http://schemas.microsoft.com/office/drawing/2014/main" id="{63E7A624-32ED-568A-2E10-069FBBF47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4:notes">
            <a:extLst>
              <a:ext uri="{FF2B5EF4-FFF2-40B4-BE49-F238E27FC236}">
                <a16:creationId xmlns:a16="http://schemas.microsoft.com/office/drawing/2014/main" id="{FE8E4C54-D2DF-EF52-64E9-EF89238ABD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877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81B7588-7B97-07A6-969E-38F03B68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>
            <a:extLst>
              <a:ext uri="{FF2B5EF4-FFF2-40B4-BE49-F238E27FC236}">
                <a16:creationId xmlns:a16="http://schemas.microsoft.com/office/drawing/2014/main" id="{4B69447F-2611-6EAB-7AB4-6D1F9EB9D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57" name="Google Shape;157;p5:notes">
            <a:extLst>
              <a:ext uri="{FF2B5EF4-FFF2-40B4-BE49-F238E27FC236}">
                <a16:creationId xmlns:a16="http://schemas.microsoft.com/office/drawing/2014/main" id="{82EA187F-40E9-3450-1B65-DA558A8A7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5:notes">
            <a:extLst>
              <a:ext uri="{FF2B5EF4-FFF2-40B4-BE49-F238E27FC236}">
                <a16:creationId xmlns:a16="http://schemas.microsoft.com/office/drawing/2014/main" id="{E022D134-66B4-D824-2D71-E560C7A483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8303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8257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6041" y="799972"/>
            <a:ext cx="6695501" cy="549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ID:- </a:t>
            </a:r>
            <a:r>
              <a:rPr lang="en-US" sz="24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SIH26073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Title:- </a:t>
            </a:r>
            <a:r>
              <a:rPr lang="en-US" sz="2400" b="1" i="0" u="sng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AI/ML-Based Intelligent Anomaly Detection for Automatic Weather Stations</a:t>
            </a:r>
            <a:endParaRPr sz="1400" b="0" i="0" u="sng" strike="noStrike" cap="none" dirty="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Theme:- </a:t>
            </a:r>
            <a:r>
              <a:rPr lang="en-US" sz="2400" b="1" i="0" u="sng" strike="noStrike" cap="none" dirty="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Disaster Management (MoES / IMD)</a:t>
            </a:r>
            <a:r>
              <a:rPr lang="en-US" sz="2400" b="0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4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just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r>
              <a:rPr lang="en-IN" sz="2400" b="1" u="sng" dirty="0"/>
              <a:t>Team ID 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Name:- </a:t>
            </a:r>
            <a:r>
              <a:rPr lang="en-US" sz="24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 Bytes</a:t>
            </a:r>
            <a:endParaRPr sz="2400" b="1" i="0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29F21FE-092B-B504-1B22-859BB22F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9C27162-6CD5-677A-F618-79ADB53632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68752" y="-412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1277CEA-A67A-55D6-5F00-151DC96AA3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648EA80-377F-9F81-8AC2-F08D3E64E8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title="MediKiosk_Workflow (3).jpg">
            <a:extLst>
              <a:ext uri="{FF2B5EF4-FFF2-40B4-BE49-F238E27FC236}">
                <a16:creationId xmlns:a16="http://schemas.microsoft.com/office/drawing/2014/main" id="{F848D15E-17B1-9D38-9554-2FE9BDBE08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8871" y="20678"/>
            <a:ext cx="5513129" cy="68373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9402474-BB00-4EAD-E85D-2122CE8F8627}"/>
              </a:ext>
            </a:extLst>
          </p:cNvPr>
          <p:cNvGrpSpPr/>
          <p:nvPr/>
        </p:nvGrpSpPr>
        <p:grpSpPr>
          <a:xfrm>
            <a:off x="83406" y="797240"/>
            <a:ext cx="6593954" cy="942434"/>
            <a:chOff x="162064" y="953085"/>
            <a:chExt cx="6593954" cy="94243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ECE905D-0886-85AE-A329-36C03930A74A}"/>
                </a:ext>
              </a:extLst>
            </p:cNvPr>
            <p:cNvSpPr/>
            <p:nvPr/>
          </p:nvSpPr>
          <p:spPr>
            <a:xfrm>
              <a:off x="1456745" y="953085"/>
              <a:ext cx="5299273" cy="9424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endParaRPr lang="en-IN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9CB892A-946A-6442-1977-77AF4A464B03}"/>
                </a:ext>
              </a:extLst>
            </p:cNvPr>
            <p:cNvSpPr/>
            <p:nvPr/>
          </p:nvSpPr>
          <p:spPr>
            <a:xfrm flipH="1">
              <a:off x="162064" y="953085"/>
              <a:ext cx="1409178" cy="9424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Edge Ingest.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FFDC12-368A-B04F-3615-C53B3B25C034}"/>
                </a:ext>
              </a:extLst>
            </p:cNvPr>
            <p:cNvSpPr txBox="1"/>
            <p:nvPr/>
          </p:nvSpPr>
          <p:spPr>
            <a:xfrm>
              <a:off x="1571242" y="1027878"/>
              <a:ext cx="5059398" cy="76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lvl="0"/>
              <a:r>
                <a:rPr lang="en-IN" sz="1200" dirty="0"/>
                <a:t>1.Raw AWS telemetry (T, P, RH) via streaming ingestion</a:t>
              </a:r>
            </a:p>
            <a:p>
              <a:pPr lvl="0"/>
              <a:r>
                <a:rPr lang="en-IN" sz="1200" dirty="0"/>
                <a:t>2.Deterministic WMO bounds and robust MAD Z-score at the edge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EC3983-8DF8-DE8A-9F8C-E1281137B6AB}"/>
              </a:ext>
            </a:extLst>
          </p:cNvPr>
          <p:cNvGrpSpPr/>
          <p:nvPr/>
        </p:nvGrpSpPr>
        <p:grpSpPr>
          <a:xfrm>
            <a:off x="83406" y="1810384"/>
            <a:ext cx="6593954" cy="942434"/>
            <a:chOff x="162064" y="953085"/>
            <a:chExt cx="6593954" cy="9424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426051-A162-9683-D375-FE0388C3A794}"/>
                </a:ext>
              </a:extLst>
            </p:cNvPr>
            <p:cNvSpPr/>
            <p:nvPr/>
          </p:nvSpPr>
          <p:spPr>
            <a:xfrm>
              <a:off x="1456745" y="953085"/>
              <a:ext cx="5299273" cy="9424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91838FE-7A58-6850-481B-F6C05B42436E}"/>
                </a:ext>
              </a:extLst>
            </p:cNvPr>
            <p:cNvSpPr/>
            <p:nvPr/>
          </p:nvSpPr>
          <p:spPr>
            <a:xfrm flipH="1">
              <a:off x="162064" y="953085"/>
              <a:ext cx="1409178" cy="9424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r>
                <a:rPr lang="en-IN" sz="1200"/>
                <a:t>Feature Engineering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2B41FA-8465-EBB7-A7A1-435C571D1AC7}"/>
                </a:ext>
              </a:extLst>
            </p:cNvPr>
            <p:cNvSpPr txBox="1"/>
            <p:nvPr/>
          </p:nvSpPr>
          <p:spPr>
            <a:xfrm>
              <a:off x="1576682" y="1155269"/>
              <a:ext cx="5059398" cy="5232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lvl="0"/>
              <a:r>
                <a:rPr lang="en-IN" sz="1200" dirty="0"/>
                <a:t>1.WIGOS metadata alignment for station-aware baselines</a:t>
              </a:r>
            </a:p>
            <a:p>
              <a:pPr lvl="0"/>
              <a:r>
                <a:rPr lang="en-IN" sz="1200" dirty="0"/>
                <a:t>2.Magnus-Tetens dew point and rate-of-change derivatives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0B0CCB-F87F-735B-46FB-C52D64A9AB2B}"/>
              </a:ext>
            </a:extLst>
          </p:cNvPr>
          <p:cNvGrpSpPr/>
          <p:nvPr/>
        </p:nvGrpSpPr>
        <p:grpSpPr>
          <a:xfrm>
            <a:off x="83406" y="2823527"/>
            <a:ext cx="6593954" cy="942434"/>
            <a:chOff x="83406" y="2823527"/>
            <a:chExt cx="6593954" cy="94243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5F9CAE0-7D8C-2994-8F0A-22949C617CFC}"/>
                </a:ext>
              </a:extLst>
            </p:cNvPr>
            <p:cNvSpPr/>
            <p:nvPr/>
          </p:nvSpPr>
          <p:spPr>
            <a:xfrm>
              <a:off x="1378087" y="2823527"/>
              <a:ext cx="5299273" cy="9424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endParaRPr lang="en-IN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1F7AA17-7528-768F-C9FF-B251B7797F69}"/>
                </a:ext>
              </a:extLst>
            </p:cNvPr>
            <p:cNvSpPr/>
            <p:nvPr/>
          </p:nvSpPr>
          <p:spPr>
            <a:xfrm flipH="1">
              <a:off x="83406" y="2823527"/>
              <a:ext cx="1409178" cy="9424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r>
                <a:rPr lang="en-IN" sz="1200"/>
                <a:t>Parallel Detection Engines</a:t>
              </a:r>
              <a:endParaRPr lang="en-IN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8835EE4-12E1-30BF-F5BB-09B63D43A6E9}"/>
              </a:ext>
            </a:extLst>
          </p:cNvPr>
          <p:cNvSpPr txBox="1"/>
          <p:nvPr/>
        </p:nvSpPr>
        <p:spPr>
          <a:xfrm>
            <a:off x="1498024" y="3058074"/>
            <a:ext cx="5059398" cy="6771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IN" sz="1200" dirty="0"/>
              <a:t>1.Statistical/Spatial: MCD, Mahalanobis distance, TITAN buddy checks</a:t>
            </a:r>
          </a:p>
          <a:p>
            <a:pPr lvl="0"/>
            <a:r>
              <a:rPr lang="en-IN" sz="1200" dirty="0"/>
              <a:t>2.Deep Learning: TimesNet and VAE forecasting residuals for slow drift</a:t>
            </a:r>
          </a:p>
          <a:p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337359-72BD-AE22-E533-3E5B763918E3}"/>
              </a:ext>
            </a:extLst>
          </p:cNvPr>
          <p:cNvGrpSpPr/>
          <p:nvPr/>
        </p:nvGrpSpPr>
        <p:grpSpPr>
          <a:xfrm>
            <a:off x="83406" y="3836670"/>
            <a:ext cx="6593954" cy="942434"/>
            <a:chOff x="162064" y="953085"/>
            <a:chExt cx="6593954" cy="94243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FB304F-8B02-B61D-3292-86E999FA1511}"/>
                </a:ext>
              </a:extLst>
            </p:cNvPr>
            <p:cNvSpPr/>
            <p:nvPr/>
          </p:nvSpPr>
          <p:spPr>
            <a:xfrm>
              <a:off x="1456745" y="953085"/>
              <a:ext cx="5299273" cy="9424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9349AB7-650B-C230-61D8-9528C827272D}"/>
                </a:ext>
              </a:extLst>
            </p:cNvPr>
            <p:cNvSpPr/>
            <p:nvPr/>
          </p:nvSpPr>
          <p:spPr>
            <a:xfrm flipH="1">
              <a:off x="162064" y="953085"/>
              <a:ext cx="1409178" cy="9424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r>
                <a:rPr lang="en-IN" sz="1200"/>
                <a:t>Score Fusion &amp; Summary</a:t>
              </a:r>
              <a:endParaRPr lang="en-IN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E88ED1-D089-5FCF-26A1-60D6F5138BDE}"/>
                </a:ext>
              </a:extLst>
            </p:cNvPr>
            <p:cNvSpPr txBox="1"/>
            <p:nvPr/>
          </p:nvSpPr>
          <p:spPr>
            <a:xfrm>
              <a:off x="1576682" y="1188628"/>
              <a:ext cx="505939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/>
              <a:r>
                <a:rPr lang="en-IN" sz="1200" dirty="0"/>
                <a:t>1.Weighted ensemble across all four detection layers</a:t>
              </a:r>
            </a:p>
            <a:p>
              <a:pPr lvl="0"/>
              <a:r>
                <a:rPr lang="en-IN" sz="1200" dirty="0"/>
                <a:t>2.Sigmoid-calibrated confidence score and quality-code assignment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0E770B-28D3-C849-489B-5E8B540EEC2A}"/>
              </a:ext>
            </a:extLst>
          </p:cNvPr>
          <p:cNvGrpSpPr/>
          <p:nvPr/>
        </p:nvGrpSpPr>
        <p:grpSpPr>
          <a:xfrm>
            <a:off x="83406" y="4849813"/>
            <a:ext cx="6593954" cy="942434"/>
            <a:chOff x="162064" y="953085"/>
            <a:chExt cx="6593954" cy="94243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2CE66A7-3C74-58AC-52D7-E24C395B66A7}"/>
                </a:ext>
              </a:extLst>
            </p:cNvPr>
            <p:cNvSpPr/>
            <p:nvPr/>
          </p:nvSpPr>
          <p:spPr>
            <a:xfrm>
              <a:off x="1456745" y="953085"/>
              <a:ext cx="5299273" cy="9424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endParaRPr lang="en-IN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C870C0E-4FEF-DAA9-4674-5EFD932DB892}"/>
                </a:ext>
              </a:extLst>
            </p:cNvPr>
            <p:cNvSpPr/>
            <p:nvPr/>
          </p:nvSpPr>
          <p:spPr>
            <a:xfrm flipH="1">
              <a:off x="162064" y="953085"/>
              <a:ext cx="1409178" cy="9424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r>
                <a:rPr lang="en-IN" sz="1200"/>
                <a:t>Dual Output Paths</a:t>
              </a:r>
              <a:endParaRPr lang="en-I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9A13A4-1C91-B741-D6E6-650A98C21C91}"/>
                </a:ext>
              </a:extLst>
            </p:cNvPr>
            <p:cNvSpPr txBox="1"/>
            <p:nvPr/>
          </p:nvSpPr>
          <p:spPr>
            <a:xfrm>
              <a:off x="1571242" y="1193468"/>
              <a:ext cx="505939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/>
              <a:r>
                <a:rPr lang="en-IN" sz="1200" dirty="0"/>
                <a:t>1.Genuine extreme: spatial consensus confirms and passes the reading</a:t>
              </a:r>
            </a:p>
            <a:p>
              <a:pPr lvl="0"/>
              <a:r>
                <a:rPr lang="en-IN" sz="1200" dirty="0"/>
                <a:t>2.Anomaly/fault: SHAP root-cause trace, flagged non-destructively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4C13711-64E8-E7D6-BA12-819D1CAFB7FB}"/>
              </a:ext>
            </a:extLst>
          </p:cNvPr>
          <p:cNvGrpSpPr/>
          <p:nvPr/>
        </p:nvGrpSpPr>
        <p:grpSpPr>
          <a:xfrm>
            <a:off x="83406" y="5893079"/>
            <a:ext cx="6593954" cy="942434"/>
            <a:chOff x="162064" y="953085"/>
            <a:chExt cx="6593954" cy="94243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BF72CC0-39E7-1093-6C70-67E21124769C}"/>
                </a:ext>
              </a:extLst>
            </p:cNvPr>
            <p:cNvSpPr/>
            <p:nvPr/>
          </p:nvSpPr>
          <p:spPr>
            <a:xfrm>
              <a:off x="1456745" y="953085"/>
              <a:ext cx="5299273" cy="9424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endParaRPr lang="en-IN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0A38359-0575-5C98-2761-21FE2A7B59A1}"/>
                </a:ext>
              </a:extLst>
            </p:cNvPr>
            <p:cNvSpPr/>
            <p:nvPr/>
          </p:nvSpPr>
          <p:spPr>
            <a:xfrm flipH="1">
              <a:off x="162064" y="953085"/>
              <a:ext cx="1409178" cy="9424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5000"/>
            </a:bodyPr>
            <a:lstStyle/>
            <a:p>
              <a:pPr algn="ctr"/>
              <a:r>
                <a:rPr lang="en-IN" sz="1200"/>
                <a:t>Cross-Cutting</a:t>
              </a:r>
              <a:endParaRPr lang="en-IN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10070E-01E4-3B8B-0797-B55E5D0BE3E2}"/>
                </a:ext>
              </a:extLst>
            </p:cNvPr>
            <p:cNvSpPr txBox="1"/>
            <p:nvPr/>
          </p:nvSpPr>
          <p:spPr>
            <a:xfrm>
              <a:off x="1571242" y="950000"/>
              <a:ext cx="5059398" cy="9000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lvl="0"/>
              <a:r>
                <a:rPr lang="en-IN" sz="1100" dirty="0"/>
                <a:t>1.WDQMS incident routing to Regional WIGOS Centres</a:t>
              </a:r>
            </a:p>
            <a:p>
              <a:pPr lvl="0"/>
              <a:r>
                <a:rPr lang="en-IN" sz="1100" dirty="0"/>
                <a:t>2.Non-destructive overlay — raw telemetry is never deleted</a:t>
              </a:r>
            </a:p>
            <a:p>
              <a:pPr lvl="0"/>
              <a:r>
                <a:rPr lang="en-IN" sz="1100" dirty="0"/>
                <a:t>3.Edge-deployable on ESP32 microcontrollers at the AWS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64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FF58902-D46D-9408-2C69-B8EFAEBA0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>
            <a:extLst>
              <a:ext uri="{FF2B5EF4-FFF2-40B4-BE49-F238E27FC236}">
                <a16:creationId xmlns:a16="http://schemas.microsoft.com/office/drawing/2014/main" id="{2175977F-6B84-DD3F-6654-B8C9A2DDC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3D0909CA-9EB8-AAD5-18C5-B6972C8672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39" name="Google Shape;139;p3">
            <a:extLst>
              <a:ext uri="{FF2B5EF4-FFF2-40B4-BE49-F238E27FC236}">
                <a16:creationId xmlns:a16="http://schemas.microsoft.com/office/drawing/2014/main" id="{666DFA78-AE60-AAB6-C01A-C74DD58DBF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>
            <a:extLst>
              <a:ext uri="{FF2B5EF4-FFF2-40B4-BE49-F238E27FC236}">
                <a16:creationId xmlns:a16="http://schemas.microsoft.com/office/drawing/2014/main" id="{37C82BE8-6292-6918-4A0B-CB6C37E5EE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98050" y="1063825"/>
            <a:ext cx="5231877" cy="56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9C8920-7458-B105-4B7F-E240E8F0B11F}"/>
              </a:ext>
            </a:extLst>
          </p:cNvPr>
          <p:cNvSpPr/>
          <p:nvPr/>
        </p:nvSpPr>
        <p:spPr>
          <a:xfrm>
            <a:off x="757084" y="1043873"/>
            <a:ext cx="5921243" cy="855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IN" dirty="0">
              <a:ln w="0"/>
              <a:solidFill>
                <a:schemeClr val="tx1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DA86E6C6-9428-F0C5-08F5-05C353BF080D}"/>
              </a:ext>
            </a:extLst>
          </p:cNvPr>
          <p:cNvSpPr/>
          <p:nvPr/>
        </p:nvSpPr>
        <p:spPr>
          <a:xfrm>
            <a:off x="104951" y="1028039"/>
            <a:ext cx="1369713" cy="871858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</a:rPr>
              <a:t>Ingestion &amp; Edge Layer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34C850-221E-BF23-6FE1-929D571F42A4}"/>
              </a:ext>
            </a:extLst>
          </p:cNvPr>
          <p:cNvSpPr txBox="1"/>
          <p:nvPr/>
        </p:nvSpPr>
        <p:spPr>
          <a:xfrm>
            <a:off x="1444674" y="1095375"/>
            <a:ext cx="5203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</a:rPr>
              <a:t>FastAPI, Apache Kafka and MQTT stream raw AWS telemetry from ESP32 edge devices into the pipeline in real time.</a:t>
            </a:r>
            <a:endParaRPr lang="en-IN" dirty="0">
              <a:ln w="0"/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2389439-6970-76DC-610C-BB161E3E4010}"/>
              </a:ext>
            </a:extLst>
          </p:cNvPr>
          <p:cNvSpPr/>
          <p:nvPr/>
        </p:nvSpPr>
        <p:spPr>
          <a:xfrm>
            <a:off x="757084" y="1961129"/>
            <a:ext cx="5921243" cy="855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IN" dirty="0">
              <a:ln w="0"/>
              <a:solidFill>
                <a:schemeClr val="tx1"/>
              </a:solidFill>
            </a:endParaRP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F1F1C7F1-619B-BDA5-46E4-F8DA22111A66}"/>
              </a:ext>
            </a:extLst>
          </p:cNvPr>
          <p:cNvSpPr/>
          <p:nvPr/>
        </p:nvSpPr>
        <p:spPr>
          <a:xfrm>
            <a:off x="104950" y="1961933"/>
            <a:ext cx="1369714" cy="85522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Processing &amp; Modelling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03EF73-3B1D-1F1B-75EE-6C09718C9C17}"/>
              </a:ext>
            </a:extLst>
          </p:cNvPr>
          <p:cNvSpPr txBox="1"/>
          <p:nvPr/>
        </p:nvSpPr>
        <p:spPr>
          <a:xfrm>
            <a:off x="1459666" y="2119306"/>
            <a:ext cx="5203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n w="0"/>
                <a:solidFill>
                  <a:schemeClr val="tx1"/>
                </a:solidFill>
              </a:rPr>
              <a:t>Python, PyTorch and Scikit-learn run the deterministic, statistical, spatial and deep-learning detection layers.</a:t>
            </a:r>
            <a:endParaRPr lang="en-IN">
              <a:ln w="0"/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74FE9D6-8A64-9AA9-849D-821AE9A4F304}"/>
              </a:ext>
            </a:extLst>
          </p:cNvPr>
          <p:cNvSpPr/>
          <p:nvPr/>
        </p:nvSpPr>
        <p:spPr>
          <a:xfrm>
            <a:off x="757084" y="2878385"/>
            <a:ext cx="5921243" cy="855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IN" dirty="0">
              <a:ln w="0"/>
              <a:solidFill>
                <a:schemeClr val="tx1"/>
              </a:solidFill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FC12D27D-C8C1-BF90-3919-F9A05F5C807B}"/>
              </a:ext>
            </a:extLst>
          </p:cNvPr>
          <p:cNvSpPr/>
          <p:nvPr/>
        </p:nvSpPr>
        <p:spPr>
          <a:xfrm>
            <a:off x="104950" y="2879189"/>
            <a:ext cx="1429571" cy="85522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AI / ML Components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449A4E-FD2C-3600-8F37-56439F970CCA}"/>
              </a:ext>
            </a:extLst>
          </p:cNvPr>
          <p:cNvSpPr txBox="1"/>
          <p:nvPr/>
        </p:nvSpPr>
        <p:spPr>
          <a:xfrm>
            <a:off x="1474664" y="2931221"/>
            <a:ext cx="5203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</a:rPr>
              <a:t>Robust MAD Z-score, Minimum Covariance Determinant (MCD), TITAN-style spatial QC, TimesNet and Variational Autoencoders detect the full spectrum of sensor faults.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2E4EC6-20C8-237F-E37E-8463B38F1239}"/>
              </a:ext>
            </a:extLst>
          </p:cNvPr>
          <p:cNvGrpSpPr/>
          <p:nvPr/>
        </p:nvGrpSpPr>
        <p:grpSpPr>
          <a:xfrm>
            <a:off x="104951" y="3795641"/>
            <a:ext cx="6573381" cy="856024"/>
            <a:chOff x="104951" y="1043873"/>
            <a:chExt cx="6573381" cy="856024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9CFD388-50C1-A47F-4F86-283293223F33}"/>
                </a:ext>
              </a:extLst>
            </p:cNvPr>
            <p:cNvSpPr/>
            <p:nvPr/>
          </p:nvSpPr>
          <p:spPr>
            <a:xfrm>
              <a:off x="757084" y="1043873"/>
              <a:ext cx="5921243" cy="85522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1"/>
              <a:endParaRPr lang="en-IN" dirty="0">
                <a:ln w="0"/>
                <a:solidFill>
                  <a:schemeClr val="tx1"/>
                </a:solidFill>
              </a:endParaRPr>
            </a:p>
          </p:txBody>
        </p:sp>
        <p:sp>
          <p:nvSpPr>
            <p:cNvPr id="42" name="Arrow: Pentagon 41">
              <a:extLst>
                <a:ext uri="{FF2B5EF4-FFF2-40B4-BE49-F238E27FC236}">
                  <a16:creationId xmlns:a16="http://schemas.microsoft.com/office/drawing/2014/main" id="{5138D55B-8637-8D23-4AB3-AFFD4231B450}"/>
                </a:ext>
              </a:extLst>
            </p:cNvPr>
            <p:cNvSpPr/>
            <p:nvPr/>
          </p:nvSpPr>
          <p:spPr>
            <a:xfrm>
              <a:off x="104951" y="1044677"/>
              <a:ext cx="1369704" cy="855220"/>
            </a:xfrm>
            <a:prstGeom prst="homePlat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Databases &amp; Storage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284C7F8-4131-DC0B-403D-45385E250C25}"/>
                </a:ext>
              </a:extLst>
            </p:cNvPr>
            <p:cNvSpPr txBox="1"/>
            <p:nvPr/>
          </p:nvSpPr>
          <p:spPr>
            <a:xfrm>
              <a:off x="1474664" y="1106732"/>
              <a:ext cx="520366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 w="0"/>
                  <a:solidFill>
                    <a:schemeClr val="tx1"/>
                  </a:solidFill>
                </a:rPr>
                <a:t>PostgreSQL with TimescaleDB stores raw and quality-coded telemetry; Docker containers serve the inference stack.</a:t>
              </a:r>
              <a:endParaRPr lang="en-IN" dirty="0">
                <a:ln w="0"/>
                <a:solidFill>
                  <a:schemeClr val="tx1"/>
                </a:solidFill>
              </a:endParaRPr>
            </a:p>
          </p:txBody>
        </p: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503F71C-2959-608B-20BD-A8532A3C9B40}"/>
              </a:ext>
            </a:extLst>
          </p:cNvPr>
          <p:cNvSpPr/>
          <p:nvPr/>
        </p:nvSpPr>
        <p:spPr>
          <a:xfrm>
            <a:off x="757084" y="4712897"/>
            <a:ext cx="5921243" cy="855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IN" dirty="0">
              <a:ln w="0"/>
              <a:solidFill>
                <a:schemeClr val="tx1"/>
              </a:solidFill>
            </a:endParaRP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50A769DA-97C4-23B5-8E2B-3CB386DEF710}"/>
              </a:ext>
            </a:extLst>
          </p:cNvPr>
          <p:cNvSpPr/>
          <p:nvPr/>
        </p:nvSpPr>
        <p:spPr>
          <a:xfrm>
            <a:off x="104951" y="4713701"/>
            <a:ext cx="1369704" cy="85522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Standards Integration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F3F634-BA46-D31F-0B14-AD444A3E6B17}"/>
              </a:ext>
            </a:extLst>
          </p:cNvPr>
          <p:cNvSpPr txBox="1"/>
          <p:nvPr/>
        </p:nvSpPr>
        <p:spPr>
          <a:xfrm>
            <a:off x="1459666" y="4878897"/>
            <a:ext cx="5203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n w="0"/>
                <a:solidFill>
                  <a:schemeClr val="tx1"/>
                </a:solidFill>
              </a:rPr>
              <a:t>WIGOS Station Identifiers, WMO-No.8 physical bounds and WDQMS incident routing align the system with IMD and WMO standards.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6A0EF30-8EF7-CE0D-45AA-1F99A32984DC}"/>
              </a:ext>
            </a:extLst>
          </p:cNvPr>
          <p:cNvSpPr/>
          <p:nvPr/>
        </p:nvSpPr>
        <p:spPr>
          <a:xfrm>
            <a:off x="757084" y="5630153"/>
            <a:ext cx="5921243" cy="855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IN" dirty="0">
              <a:ln w="0"/>
              <a:solidFill>
                <a:schemeClr val="tx1"/>
              </a:solidFill>
            </a:endParaRPr>
          </a:p>
        </p:txBody>
      </p:sp>
      <p:sp>
        <p:nvSpPr>
          <p:cNvPr id="50" name="Arrow: Pentagon 49">
            <a:extLst>
              <a:ext uri="{FF2B5EF4-FFF2-40B4-BE49-F238E27FC236}">
                <a16:creationId xmlns:a16="http://schemas.microsoft.com/office/drawing/2014/main" id="{84466344-B05D-FACC-79E5-EA39E00C83AC}"/>
              </a:ext>
            </a:extLst>
          </p:cNvPr>
          <p:cNvSpPr/>
          <p:nvPr/>
        </p:nvSpPr>
        <p:spPr>
          <a:xfrm>
            <a:off x="104952" y="5630957"/>
            <a:ext cx="1369707" cy="85522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Explainability &amp; Output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73C1DD-735A-580D-7C76-FEB7D8966BA3}"/>
              </a:ext>
            </a:extLst>
          </p:cNvPr>
          <p:cNvSpPr txBox="1"/>
          <p:nvPr/>
        </p:nvSpPr>
        <p:spPr>
          <a:xfrm>
            <a:off x="1534521" y="5688431"/>
            <a:ext cx="5203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</a:rPr>
              <a:t>SHAP-based root-cause tracing and a sigmoid-calibrated confidence score are appended to every reading via REST/WebSocket alert APIs.</a:t>
            </a:r>
            <a:endParaRPr lang="en-IN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62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337A7012-8E78-44B1-4EBB-EF9A555D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63B1DA51-B92D-89D3-29D1-295B75E0B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49" name="Google Shape;149;p4">
            <a:extLst>
              <a:ext uri="{FF2B5EF4-FFF2-40B4-BE49-F238E27FC236}">
                <a16:creationId xmlns:a16="http://schemas.microsoft.com/office/drawing/2014/main" id="{C3065062-3F52-D237-4C09-1ADF786AF6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71344" y="654339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4">
            <a:extLst>
              <a:ext uri="{FF2B5EF4-FFF2-40B4-BE49-F238E27FC236}">
                <a16:creationId xmlns:a16="http://schemas.microsoft.com/office/drawing/2014/main" id="{6CACF97A-A5EF-CFB3-C813-3F5B90B53A7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481944" y="6543391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SIH26073 — AI/ML Anomaly Detection for AWS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1" name="Google Shape;151;p4">
            <a:extLst>
              <a:ext uri="{FF2B5EF4-FFF2-40B4-BE49-F238E27FC236}">
                <a16:creationId xmlns:a16="http://schemas.microsoft.com/office/drawing/2014/main" id="{B85EA450-EA0A-5A88-F647-39D8052456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E83A72-3928-5BAA-425A-14E85D49663F}"/>
              </a:ext>
            </a:extLst>
          </p:cNvPr>
          <p:cNvSpPr/>
          <p:nvPr/>
        </p:nvSpPr>
        <p:spPr>
          <a:xfrm>
            <a:off x="778548" y="1119136"/>
            <a:ext cx="2625713" cy="30764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 dirty="0"/>
              <a:t>Technical Feasibility</a:t>
            </a:r>
            <a:endParaRPr lang="en-IN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EB110B-E308-FF94-CFB2-2F393CCC83E7}"/>
              </a:ext>
            </a:extLst>
          </p:cNvPr>
          <p:cNvSpPr/>
          <p:nvPr/>
        </p:nvSpPr>
        <p:spPr>
          <a:xfrm>
            <a:off x="345112" y="1579439"/>
            <a:ext cx="5740487" cy="59706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Physics-Bounded Detection: 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Magnus-Tetens dew point cross-validation combines with MCD and TimesNet residuals to separate sensor faults from genuine extremes via</a:t>
            </a:r>
            <a:r>
              <a:rPr lang="en-IN" sz="1300" dirty="0" err="1">
                <a:solidFill>
                  <a:schemeClr val="tx1"/>
                </a:solidFill>
                <a:latin typeface="Aptos" panose="020B0004020202020204" pitchFamily="34" charset="0"/>
              </a:rPr>
              <a:t> station-aware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IN" sz="1300" dirty="0" err="1">
                <a:solidFill>
                  <a:schemeClr val="tx1"/>
                </a:solidFill>
                <a:latin typeface="Aptos" panose="020B0004020202020204" pitchFamily="34" charset="0"/>
              </a:rPr>
              <a:t> thresholds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  <a:endParaRPr lang="en-IN" sz="13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7D953C-21C5-163A-3961-A2A6E03702A4}"/>
              </a:ext>
            </a:extLst>
          </p:cNvPr>
          <p:cNvSpPr/>
          <p:nvPr/>
        </p:nvSpPr>
        <p:spPr>
          <a:xfrm>
            <a:off x="345111" y="2274671"/>
            <a:ext cx="5740487" cy="6455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Standards Compliance: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lvl="0" fontAlgn="base"/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WMO-No.8 bounds and WIGOS Station Identifiers are hard-coded, ensuring every model output stays physically grounded.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FF01DB-BBD1-BB91-11C5-A9BE1EB50CCF}"/>
              </a:ext>
            </a:extLst>
          </p:cNvPr>
          <p:cNvSpPr/>
          <p:nvPr/>
        </p:nvSpPr>
        <p:spPr>
          <a:xfrm>
            <a:off x="310594" y="3576194"/>
            <a:ext cx="5740487" cy="60501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Edge Deployability: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lvl="0" fontAlgn="base"/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The MAD/Z-score layer runs on ESP32 microcontrollers already common at AWS sites — no proprietary hardware required.</a:t>
            </a:r>
            <a:endParaRPr lang="en-IN" sz="13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FDDFEC-C2A4-EF6E-855E-852F654893C5}"/>
              </a:ext>
            </a:extLst>
          </p:cNvPr>
          <p:cNvSpPr/>
          <p:nvPr/>
        </p:nvSpPr>
        <p:spPr>
          <a:xfrm>
            <a:off x="310593" y="4240252"/>
            <a:ext cx="5740487" cy="630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Non-Destructive Overlay: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lvl="0" fontAlgn="base"/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Raw telemetry is never deleted — every reading is appended with a quality code, so IMD retains full auditability.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6B111B-0C06-553C-CB39-A6368177368A}"/>
              </a:ext>
            </a:extLst>
          </p:cNvPr>
          <p:cNvSpPr/>
          <p:nvPr/>
        </p:nvSpPr>
        <p:spPr>
          <a:xfrm>
            <a:off x="777567" y="5035625"/>
            <a:ext cx="2807726" cy="30764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Legal &amp; Security Feasibility</a:t>
            </a:r>
            <a:endParaRPr lang="en-IN" sz="12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1B2CD6-E79C-730D-79D5-BEDBB65AE128}"/>
              </a:ext>
            </a:extLst>
          </p:cNvPr>
          <p:cNvSpPr/>
          <p:nvPr/>
        </p:nvSpPr>
        <p:spPr>
          <a:xfrm>
            <a:off x="344131" y="5495928"/>
            <a:ext cx="5740487" cy="59963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Standards-Aligned: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lvl="0" fontAlgn="base"/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Built to integrate with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WDQMS incident-routing and Regional WIGOS Centre protocols.</a:t>
            </a:r>
            <a:endParaRPr lang="en-IN" sz="13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5AC618-A092-22F3-F2C7-029C2E6E52E7}"/>
              </a:ext>
            </a:extLst>
          </p:cNvPr>
          <p:cNvSpPr/>
          <p:nvPr/>
        </p:nvSpPr>
        <p:spPr>
          <a:xfrm>
            <a:off x="744030" y="3115890"/>
            <a:ext cx="2625713" cy="30764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Operational Feasibility</a:t>
            </a:r>
            <a:endParaRPr lang="en-IN" sz="12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B60B47-41B2-D98B-1D20-83A9BFD44262}"/>
              </a:ext>
            </a:extLst>
          </p:cNvPr>
          <p:cNvSpPr/>
          <p:nvPr/>
        </p:nvSpPr>
        <p:spPr>
          <a:xfrm>
            <a:off x="334301" y="2999291"/>
            <a:ext cx="557834" cy="51969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639CAA-205D-6F80-7EC2-4DCA729BB553}"/>
              </a:ext>
            </a:extLst>
          </p:cNvPr>
          <p:cNvSpPr/>
          <p:nvPr/>
        </p:nvSpPr>
        <p:spPr>
          <a:xfrm>
            <a:off x="375865" y="1018243"/>
            <a:ext cx="557834" cy="51969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0F9030-5789-811C-93BC-62BBC8FDE07A}"/>
              </a:ext>
            </a:extLst>
          </p:cNvPr>
          <p:cNvSpPr/>
          <p:nvPr/>
        </p:nvSpPr>
        <p:spPr>
          <a:xfrm>
            <a:off x="334300" y="4921746"/>
            <a:ext cx="557834" cy="51969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8E4545-B7CE-C231-314A-B46B44832477}"/>
              </a:ext>
            </a:extLst>
          </p:cNvPr>
          <p:cNvSpPr/>
          <p:nvPr/>
        </p:nvSpPr>
        <p:spPr>
          <a:xfrm>
            <a:off x="331275" y="6154612"/>
            <a:ext cx="5740487" cy="65108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Pune Earth Station Fit: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lvl="0" fontAlgn="base"/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Integrates directly with the existing INSAT PRBS/TDMA telemetry pipeline at IMD's Pune data receiving station.</a:t>
            </a:r>
            <a:endParaRPr lang="en-IN" sz="13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23" name="Graphic 22" descr="Lightbulb and gear with solid fill">
            <a:extLst>
              <a:ext uri="{FF2B5EF4-FFF2-40B4-BE49-F238E27FC236}">
                <a16:creationId xmlns:a16="http://schemas.microsoft.com/office/drawing/2014/main" id="{387B2CDA-C4C4-F0B6-37E3-663D50C31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124" y="1057972"/>
            <a:ext cx="453485" cy="453485"/>
          </a:xfrm>
          <a:prstGeom prst="rect">
            <a:avLst/>
          </a:prstGeom>
        </p:spPr>
      </p:pic>
      <p:pic>
        <p:nvPicPr>
          <p:cNvPr id="25" name="Graphic 24" descr="Gears with solid fill">
            <a:extLst>
              <a:ext uri="{FF2B5EF4-FFF2-40B4-BE49-F238E27FC236}">
                <a16:creationId xmlns:a16="http://schemas.microsoft.com/office/drawing/2014/main" id="{49697E61-C5B6-D996-B68F-C2A0BFB21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766" y="3018421"/>
            <a:ext cx="500834" cy="500834"/>
          </a:xfrm>
          <a:prstGeom prst="rect">
            <a:avLst/>
          </a:prstGeom>
        </p:spPr>
      </p:pic>
      <p:pic>
        <p:nvPicPr>
          <p:cNvPr id="27" name="Graphic 26" descr="Closed book with solid fill">
            <a:extLst>
              <a:ext uri="{FF2B5EF4-FFF2-40B4-BE49-F238E27FC236}">
                <a16:creationId xmlns:a16="http://schemas.microsoft.com/office/drawing/2014/main" id="{E790BB23-62A3-93ED-9D9F-B67133D37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953" y="4982690"/>
            <a:ext cx="399701" cy="399701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BEF5CDC-D6E8-8DD5-C108-D0EB0A7E87CC}"/>
              </a:ext>
            </a:extLst>
          </p:cNvPr>
          <p:cNvSpPr/>
          <p:nvPr/>
        </p:nvSpPr>
        <p:spPr>
          <a:xfrm>
            <a:off x="6668661" y="1106733"/>
            <a:ext cx="2625713" cy="30764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Economic Viability</a:t>
            </a:r>
            <a:endParaRPr lang="en-IN" sz="12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C75C0A9-676C-2788-FEAC-E0048EFE7D93}"/>
              </a:ext>
            </a:extLst>
          </p:cNvPr>
          <p:cNvSpPr/>
          <p:nvPr/>
        </p:nvSpPr>
        <p:spPr>
          <a:xfrm>
            <a:off x="6235225" y="1567037"/>
            <a:ext cx="5740487" cy="5970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Cost-Effective Development: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Open-source models (PyTorch, Scikit-learn) and standard edge hardware keep development and deployment costs low.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9D683F-17DD-896B-917F-88538DE34D51}"/>
              </a:ext>
            </a:extLst>
          </p:cNvPr>
          <p:cNvSpPr/>
          <p:nvPr/>
        </p:nvSpPr>
        <p:spPr>
          <a:xfrm>
            <a:off x="6235224" y="2262267"/>
            <a:ext cx="5740487" cy="65028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lvl="0" fontAlgn="base"/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High ROI: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Preventing even one Mungeshpur-scale false alarm protects public trust and avoids costly PMFBY insurance mispayouts.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D8884DC-F216-B2C1-320D-5A0703757D7D}"/>
              </a:ext>
            </a:extLst>
          </p:cNvPr>
          <p:cNvSpPr/>
          <p:nvPr/>
        </p:nvSpPr>
        <p:spPr>
          <a:xfrm>
            <a:off x="6200707" y="3563790"/>
            <a:ext cx="5740487" cy="6174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Preserves Genuine Extremes: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Spatial consensus mapping ensures real heatwaves and cyclonic pressure drops are never wrongly suppressed as errors.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622D83-1E29-C352-776B-A63BCB69768E}"/>
              </a:ext>
            </a:extLst>
          </p:cNvPr>
          <p:cNvSpPr/>
          <p:nvPr/>
        </p:nvSpPr>
        <p:spPr>
          <a:xfrm>
            <a:off x="6200706" y="4227848"/>
            <a:ext cx="5740487" cy="6270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Explainable to Technicians: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SHAP-based root-cause traces give IMD technicians an evidence trail instead of an opaque boolean flag.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E6ACB2C-ABFA-4CE3-DD7B-878F918FAE0B}"/>
              </a:ext>
            </a:extLst>
          </p:cNvPr>
          <p:cNvSpPr/>
          <p:nvPr/>
        </p:nvSpPr>
        <p:spPr>
          <a:xfrm>
            <a:off x="6667680" y="5023222"/>
            <a:ext cx="2807726" cy="30764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Scalability</a:t>
            </a:r>
            <a:endParaRPr lang="en-IN" sz="12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F3C3073-5A4C-33CD-3FC8-40C02E9FE67C}"/>
              </a:ext>
            </a:extLst>
          </p:cNvPr>
          <p:cNvSpPr/>
          <p:nvPr/>
        </p:nvSpPr>
        <p:spPr>
          <a:xfrm>
            <a:off x="6234244" y="5483526"/>
            <a:ext cx="5740487" cy="5996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Network-Wide Rollout: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Pilots on the Pune-region AWS cluster, then extends network-wide using the same station-aware thresholds.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017118D-8232-7159-DF73-795A8C10A0E0}"/>
              </a:ext>
            </a:extLst>
          </p:cNvPr>
          <p:cNvSpPr/>
          <p:nvPr/>
        </p:nvSpPr>
        <p:spPr>
          <a:xfrm>
            <a:off x="6634143" y="3103487"/>
            <a:ext cx="2625713" cy="30764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Meteorological Viability</a:t>
            </a:r>
            <a:endParaRPr lang="en-IN" sz="12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EF4ECA9-F4C4-6380-9DE0-E43457E54BAC}"/>
              </a:ext>
            </a:extLst>
          </p:cNvPr>
          <p:cNvSpPr/>
          <p:nvPr/>
        </p:nvSpPr>
        <p:spPr>
          <a:xfrm>
            <a:off x="6224414" y="2986888"/>
            <a:ext cx="557834" cy="51969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EFFFDC4-259B-DD61-18BB-112F766004AE}"/>
              </a:ext>
            </a:extLst>
          </p:cNvPr>
          <p:cNvSpPr/>
          <p:nvPr/>
        </p:nvSpPr>
        <p:spPr>
          <a:xfrm>
            <a:off x="6265978" y="1005840"/>
            <a:ext cx="557834" cy="51969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62C340B-A434-BF42-23D1-06A4CB32B2CF}"/>
              </a:ext>
            </a:extLst>
          </p:cNvPr>
          <p:cNvSpPr/>
          <p:nvPr/>
        </p:nvSpPr>
        <p:spPr>
          <a:xfrm>
            <a:off x="6224413" y="4909343"/>
            <a:ext cx="557834" cy="51969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F864B54-FC57-2BDF-E5CE-5EE3BE6B7670}"/>
              </a:ext>
            </a:extLst>
          </p:cNvPr>
          <p:cNvSpPr/>
          <p:nvPr/>
        </p:nvSpPr>
        <p:spPr>
          <a:xfrm>
            <a:off x="6224413" y="6153489"/>
            <a:ext cx="5740487" cy="65108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Modular Architecture: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Four independent layers (deterministic, statistical, spatial, deep-learning) allow flexible scaling as Mission Mausam expands to 1,400+ stations.</a:t>
            </a:r>
          </a:p>
        </p:txBody>
      </p:sp>
      <p:pic>
        <p:nvPicPr>
          <p:cNvPr id="44" name="Graphic 43" descr="Money with solid fill">
            <a:extLst>
              <a:ext uri="{FF2B5EF4-FFF2-40B4-BE49-F238E27FC236}">
                <a16:creationId xmlns:a16="http://schemas.microsoft.com/office/drawing/2014/main" id="{59B73B8A-2127-1CD9-7188-DCCEA5DD8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3437" y="1002045"/>
            <a:ext cx="464724" cy="464724"/>
          </a:xfrm>
          <a:prstGeom prst="rect">
            <a:avLst/>
          </a:prstGeom>
        </p:spPr>
      </p:pic>
      <p:pic>
        <p:nvPicPr>
          <p:cNvPr id="46" name="Graphic 45" descr="Meeting with solid fill">
            <a:extLst>
              <a:ext uri="{FF2B5EF4-FFF2-40B4-BE49-F238E27FC236}">
                <a16:creationId xmlns:a16="http://schemas.microsoft.com/office/drawing/2014/main" id="{337D9E15-8A90-02A9-E95B-424CE8856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6279" y="2962313"/>
            <a:ext cx="537452" cy="537452"/>
          </a:xfrm>
          <a:prstGeom prst="rect">
            <a:avLst/>
          </a:prstGeom>
        </p:spPr>
      </p:pic>
      <p:pic>
        <p:nvPicPr>
          <p:cNvPr id="48" name="Graphic 47" descr="Business Growth with solid fill">
            <a:extLst>
              <a:ext uri="{FF2B5EF4-FFF2-40B4-BE49-F238E27FC236}">
                <a16:creationId xmlns:a16="http://schemas.microsoft.com/office/drawing/2014/main" id="{40C55A24-6488-6778-F85B-20FC7F079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1805" y="4982690"/>
            <a:ext cx="407045" cy="40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2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A7F16636-A2B5-4AFB-8010-261404D94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>
            <a:extLst>
              <a:ext uri="{FF2B5EF4-FFF2-40B4-BE49-F238E27FC236}">
                <a16:creationId xmlns:a16="http://schemas.microsoft.com/office/drawing/2014/main" id="{D8A9629F-4CCC-B489-331B-A8EEAF31AE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pic>
        <p:nvPicPr>
          <p:cNvPr id="162" name="Google Shape;162;p5">
            <a:extLst>
              <a:ext uri="{FF2B5EF4-FFF2-40B4-BE49-F238E27FC236}">
                <a16:creationId xmlns:a16="http://schemas.microsoft.com/office/drawing/2014/main" id="{F8A6114E-F333-3116-5D15-37FF8F3EE5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344FEF5-1CE5-4111-4089-54FAAEAF0C3C}"/>
              </a:ext>
            </a:extLst>
          </p:cNvPr>
          <p:cNvGrpSpPr/>
          <p:nvPr/>
        </p:nvGrpSpPr>
        <p:grpSpPr>
          <a:xfrm>
            <a:off x="299018" y="860004"/>
            <a:ext cx="5764725" cy="1949835"/>
            <a:chOff x="227113" y="947843"/>
            <a:chExt cx="5764725" cy="194983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C3BF19-41DD-8840-829F-D395E6230CE3}"/>
                </a:ext>
              </a:extLst>
            </p:cNvPr>
            <p:cNvGrpSpPr/>
            <p:nvPr/>
          </p:nvGrpSpPr>
          <p:grpSpPr>
            <a:xfrm>
              <a:off x="227113" y="947843"/>
              <a:ext cx="3073249" cy="519693"/>
              <a:chOff x="677439" y="988628"/>
              <a:chExt cx="3073249" cy="519693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E42D9C15-D410-D9D3-AC5B-8F64995BB7F8}"/>
                  </a:ext>
                </a:extLst>
              </p:cNvPr>
              <p:cNvSpPr/>
              <p:nvPr/>
            </p:nvSpPr>
            <p:spPr>
              <a:xfrm>
                <a:off x="1124975" y="1089521"/>
                <a:ext cx="2625713" cy="307644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r>
                  <a:rPr lang="en-IN" sz="1200" b="1" dirty="0"/>
                  <a:t>Real-Time Detection Accuracy</a:t>
                </a:r>
                <a:endParaRPr lang="en-IN" sz="1200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CC00D7B-B474-93B1-3419-05E75C8EEF1A}"/>
                  </a:ext>
                </a:extLst>
              </p:cNvPr>
              <p:cNvGrpSpPr/>
              <p:nvPr/>
            </p:nvGrpSpPr>
            <p:grpSpPr>
              <a:xfrm>
                <a:off x="677439" y="988628"/>
                <a:ext cx="557834" cy="519693"/>
                <a:chOff x="3854935" y="1048514"/>
                <a:chExt cx="557834" cy="519693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DE14004-745C-7DA3-46F2-4516C8EB5017}"/>
                    </a:ext>
                  </a:extLst>
                </p:cNvPr>
                <p:cNvSpPr/>
                <p:nvPr/>
              </p:nvSpPr>
              <p:spPr>
                <a:xfrm>
                  <a:off x="3854935" y="1048514"/>
                  <a:ext cx="557834" cy="519693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9" name="Graphic 8" descr="Stopwatch with solid fill">
                  <a:extLst>
                    <a:ext uri="{FF2B5EF4-FFF2-40B4-BE49-F238E27FC236}">
                      <a16:creationId xmlns:a16="http://schemas.microsoft.com/office/drawing/2014/main" id="{98599A60-DDF1-AA59-ACF5-1BC4850E4F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88472" y="1078104"/>
                  <a:ext cx="490760" cy="460646"/>
                </a:xfrm>
                <a:prstGeom prst="rect">
                  <a:avLst/>
                </a:prstGeom>
              </p:spPr>
            </p:pic>
          </p:grp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B029999-344B-2BD7-87E0-96864A411779}"/>
                </a:ext>
              </a:extLst>
            </p:cNvPr>
            <p:cNvSpPr/>
            <p:nvPr/>
          </p:nvSpPr>
          <p:spPr>
            <a:xfrm>
              <a:off x="241213" y="1515444"/>
              <a:ext cx="5740487" cy="65407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r>
                <a:rPr lang="en-IN" sz="13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Physics-Aware Precision:</a:t>
              </a:r>
              <a:r>
                <a:rPr lang="en-IN" sz="1300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Aptos" panose="020B0004020202020204" pitchFamily="34" charset="0"/>
                </a:rPr>
                <a:t>Dew-point cross-validation cuts false-alarm rate from 34% to 4% versus generic statistical AI on genuine extreme events</a:t>
              </a:r>
              <a:r>
                <a:rPr lang="en-US" sz="1200" dirty="0"/>
                <a:t>. </a:t>
              </a:r>
              <a:endParaRPr lang="en-IN" sz="13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5A6A395-EF2E-AE9F-D36D-50F4D0705402}"/>
                </a:ext>
              </a:extLst>
            </p:cNvPr>
            <p:cNvSpPr/>
            <p:nvPr/>
          </p:nvSpPr>
          <p:spPr>
            <a:xfrm>
              <a:off x="251351" y="2237203"/>
              <a:ext cx="5740487" cy="66047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r>
                <a:rPr lang="en-IN" sz="13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Rigorous Evaluation:</a:t>
              </a:r>
              <a:r>
                <a:rPr lang="en-IN" sz="1300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Aptos" panose="020B0004020202020204" pitchFamily="34" charset="0"/>
                </a:rPr>
                <a:t>Event-level scoring and station hold-out splits replace flawed point-adjusted F1, giving a defensible accuracy claim. </a:t>
              </a:r>
              <a:endParaRPr lang="en-IN" sz="13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F481F48-B165-914D-5BFC-51CF73734D01}"/>
              </a:ext>
            </a:extLst>
          </p:cNvPr>
          <p:cNvSpPr/>
          <p:nvPr/>
        </p:nvSpPr>
        <p:spPr>
          <a:xfrm>
            <a:off x="332555" y="3486705"/>
            <a:ext cx="5740487" cy="62502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Sub-Hour Fault Detection: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Robust Z-score and MCD layers catch spike, drift, offset and freeze faults within one polling cycle, before they corrupt records.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EE07E26-32EC-53B3-C2EF-38435DFAE9D2}"/>
              </a:ext>
            </a:extLst>
          </p:cNvPr>
          <p:cNvSpPr/>
          <p:nvPr/>
        </p:nvSpPr>
        <p:spPr>
          <a:xfrm>
            <a:off x="332554" y="4198651"/>
            <a:ext cx="5740487" cy="60991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Mungeshpur-Class Prevention: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The 3°C sensor bias that caused the May 2024 52.9°C false alarm would be flagged instantly by the multivariate layer.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8DCC9E9-039F-75F5-60B0-257A8CCE4695}"/>
              </a:ext>
            </a:extLst>
          </p:cNvPr>
          <p:cNvSpPr/>
          <p:nvPr/>
        </p:nvSpPr>
        <p:spPr>
          <a:xfrm>
            <a:off x="793986" y="5007624"/>
            <a:ext cx="2807726" cy="30764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 dirty="0"/>
              <a:t>Standards-Aligned Ecosystem</a:t>
            </a:r>
            <a:endParaRPr lang="en-IN" sz="12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328C44A-ED24-C0ED-A034-DBD4525EF1BC}"/>
              </a:ext>
            </a:extLst>
          </p:cNvPr>
          <p:cNvSpPr/>
          <p:nvPr/>
        </p:nvSpPr>
        <p:spPr>
          <a:xfrm>
            <a:off x="323256" y="5497792"/>
            <a:ext cx="5740487" cy="56571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WIGOS/WDQMS Compliance: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Native WIGOS Station Identifiers and WDQMS incident routing mean zero retrofit for IMD's existing observing-system standards. 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00" name="Rectangle: Rounded Corners 199"/>
          <p:cNvSpPr/>
          <p:nvPr/>
        </p:nvSpPr>
        <p:spPr>
          <a:xfrm>
            <a:off x="332554" y="6150437"/>
            <a:ext cx="5740487" cy="61306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Open REST/WebSocket Access: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Confidence scores and quality codes are exposed via standard alert APIs, so any existing IMD dashboard or third-party tool can consume them directly.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C37116-6BE6-679A-9958-BF3B2EA9126C}"/>
              </a:ext>
            </a:extLst>
          </p:cNvPr>
          <p:cNvGrpSpPr/>
          <p:nvPr/>
        </p:nvGrpSpPr>
        <p:grpSpPr>
          <a:xfrm>
            <a:off x="344946" y="2908269"/>
            <a:ext cx="3046758" cy="519693"/>
            <a:chOff x="364812" y="2908269"/>
            <a:chExt cx="3046758" cy="519693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0499C39-6D1A-6532-6BDE-DBED862BCAA2}"/>
                </a:ext>
              </a:extLst>
            </p:cNvPr>
            <p:cNvSpPr/>
            <p:nvPr/>
          </p:nvSpPr>
          <p:spPr>
            <a:xfrm>
              <a:off x="785857" y="3026401"/>
              <a:ext cx="2625713" cy="307644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r>
                <a:rPr lang="en-IN" b="1" dirty="0"/>
                <a:t>Data Integrity Safeguards</a:t>
              </a:r>
              <a:endParaRPr lang="en-IN" sz="120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881296-D374-4684-6A3F-CEE82B110E5D}"/>
                </a:ext>
              </a:extLst>
            </p:cNvPr>
            <p:cNvSpPr/>
            <p:nvPr/>
          </p:nvSpPr>
          <p:spPr>
            <a:xfrm>
              <a:off x="364812" y="2908269"/>
              <a:ext cx="557834" cy="51969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IN"/>
            </a:p>
          </p:txBody>
        </p:sp>
        <p:pic>
          <p:nvPicPr>
            <p:cNvPr id="50" name="Graphic 49" descr="Low Vision with solid fill">
              <a:extLst>
                <a:ext uri="{FF2B5EF4-FFF2-40B4-BE49-F238E27FC236}">
                  <a16:creationId xmlns:a16="http://schemas.microsoft.com/office/drawing/2014/main" id="{AEF9A81D-1164-0F3B-4021-BC9B03355A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0999" y="2948339"/>
              <a:ext cx="439552" cy="439552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DA223F-0D8C-6003-7129-9E21F61D1A9A}"/>
              </a:ext>
            </a:extLst>
          </p:cNvPr>
          <p:cNvGrpSpPr/>
          <p:nvPr/>
        </p:nvGrpSpPr>
        <p:grpSpPr>
          <a:xfrm>
            <a:off x="342029" y="4914303"/>
            <a:ext cx="557834" cy="519693"/>
            <a:chOff x="7240018" y="4682132"/>
            <a:chExt cx="557834" cy="519693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F6C0C7B-8718-5C69-A137-75FACF57FED0}"/>
                </a:ext>
              </a:extLst>
            </p:cNvPr>
            <p:cNvSpPr/>
            <p:nvPr/>
          </p:nvSpPr>
          <p:spPr>
            <a:xfrm>
              <a:off x="7240018" y="4682132"/>
              <a:ext cx="557834" cy="51969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IN"/>
            </a:p>
          </p:txBody>
        </p:sp>
        <p:pic>
          <p:nvPicPr>
            <p:cNvPr id="53" name="Graphic 52" descr="Connections with solid fill">
              <a:extLst>
                <a:ext uri="{FF2B5EF4-FFF2-40B4-BE49-F238E27FC236}">
                  <a16:creationId xmlns:a16="http://schemas.microsoft.com/office/drawing/2014/main" id="{3CEEB169-0172-A443-2651-EA02A49F5E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88612" y="4711655"/>
              <a:ext cx="460646" cy="460646"/>
            </a:xfrm>
            <a:prstGeom prst="rect">
              <a:avLst/>
            </a:prstGeom>
          </p:spPr>
        </p:pic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C1179ED-18AE-D52F-1350-86D2C4D13852}"/>
              </a:ext>
            </a:extLst>
          </p:cNvPr>
          <p:cNvSpPr/>
          <p:nvPr/>
        </p:nvSpPr>
        <p:spPr>
          <a:xfrm>
            <a:off x="6640168" y="967301"/>
            <a:ext cx="2625713" cy="3076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IMD Operator Benefits</a:t>
            </a:r>
            <a:endParaRPr lang="en-IN" sz="12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1F85E1C-025B-67CD-F978-84F454E51164}"/>
              </a:ext>
            </a:extLst>
          </p:cNvPr>
          <p:cNvSpPr/>
          <p:nvPr/>
        </p:nvSpPr>
        <p:spPr>
          <a:xfrm>
            <a:off x="6206732" y="1427605"/>
            <a:ext cx="5740487" cy="6600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Reduced Manual QC Load: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Automates quality control across 1,008+ stations, work that is mathematically impossible to do manually at Mission Mausam scale.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4905804-A8DA-843C-CBB9-6AF9E96A3684}"/>
              </a:ext>
            </a:extLst>
          </p:cNvPr>
          <p:cNvSpPr/>
          <p:nvPr/>
        </p:nvSpPr>
        <p:spPr>
          <a:xfrm>
            <a:off x="6203386" y="2185815"/>
            <a:ext cx="5740487" cy="6401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Explainable Root-Cause: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SHAP evidence traces let technicians resolve faults directly, e.g. distinguishing a battery drop from a fouled humidity sensor.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BFE3E9E-F83B-6074-B4C9-AA54D9EE8441}"/>
              </a:ext>
            </a:extLst>
          </p:cNvPr>
          <p:cNvSpPr/>
          <p:nvPr/>
        </p:nvSpPr>
        <p:spPr>
          <a:xfrm>
            <a:off x="6203387" y="3486705"/>
            <a:ext cx="5740487" cy="6250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Protects Genuine Alerts: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Spatial consensus mapping ensures a real heatwave or cyclonic pressure drop is never wrongly suppressed as a sensor fault.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F1B57DBE-7BD6-4BE6-1260-9F3A6CA48E2B}"/>
              </a:ext>
            </a:extLst>
          </p:cNvPr>
          <p:cNvSpPr/>
          <p:nvPr/>
        </p:nvSpPr>
        <p:spPr>
          <a:xfrm>
            <a:off x="6203386" y="4171544"/>
            <a:ext cx="5740487" cy="6370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Full Auditability: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Non-destructive overlay design means raw telemetry is never altered — every quality code is traceable back to source. 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B5CEDD7C-887B-341D-AA72-0A26D357D9A8}"/>
              </a:ext>
            </a:extLst>
          </p:cNvPr>
          <p:cNvSpPr/>
          <p:nvPr/>
        </p:nvSpPr>
        <p:spPr>
          <a:xfrm>
            <a:off x="6636823" y="5001524"/>
            <a:ext cx="2807726" cy="3076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 dirty="0"/>
              <a:t>Long-Term Benefits</a:t>
            </a:r>
            <a:endParaRPr lang="en-IN" sz="1200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179CEFC-213E-6977-87A3-C80925A30AAC}"/>
              </a:ext>
            </a:extLst>
          </p:cNvPr>
          <p:cNvSpPr/>
          <p:nvPr/>
        </p:nvSpPr>
        <p:spPr>
          <a:xfrm>
            <a:off x="6227093" y="5466760"/>
            <a:ext cx="5740487" cy="5967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Financial Trust Engine: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 err="1">
                <a:solidFill>
                  <a:schemeClr val="tx1"/>
                </a:solidFill>
                <a:latin typeface="Aptos" panose="020B0004020202020204" pitchFamily="34" charset="0"/>
              </a:rPr>
              <a:t>Verified</a:t>
            </a:r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, uncorrupted weather data ensures PMFBY and RWBCIS crop-insurance payouts settle fairly, preventing both false claims and denied claims</a:t>
            </a:r>
            <a:r>
              <a:rPr lang="en-US" sz="1200" dirty="0"/>
              <a:t>.</a:t>
            </a:r>
            <a:endParaRPr lang="en-IN" sz="1300" dirty="0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76E716B7-3279-3F3F-A07D-5EC7206EABF6}"/>
              </a:ext>
            </a:extLst>
          </p:cNvPr>
          <p:cNvSpPr/>
          <p:nvPr/>
        </p:nvSpPr>
        <p:spPr>
          <a:xfrm>
            <a:off x="6636823" y="3026401"/>
            <a:ext cx="2625713" cy="3076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IN" b="1"/>
              <a:t>Farmer &amp; Public Benefits</a:t>
            </a:r>
            <a:endParaRPr lang="en-IN" sz="120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B663A48-5B80-86AF-45C1-99771A25B960}"/>
              </a:ext>
            </a:extLst>
          </p:cNvPr>
          <p:cNvGrpSpPr/>
          <p:nvPr/>
        </p:nvGrpSpPr>
        <p:grpSpPr>
          <a:xfrm>
            <a:off x="6227094" y="2909802"/>
            <a:ext cx="557834" cy="523830"/>
            <a:chOff x="4993999" y="1029497"/>
            <a:chExt cx="557834" cy="52383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33D46EE-62D2-EF75-E689-5A8D00068945}"/>
                </a:ext>
              </a:extLst>
            </p:cNvPr>
            <p:cNvSpPr/>
            <p:nvPr/>
          </p:nvSpPr>
          <p:spPr>
            <a:xfrm>
              <a:off x="4993999" y="1029497"/>
              <a:ext cx="557834" cy="5196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IN"/>
            </a:p>
          </p:txBody>
        </p:sp>
        <p:pic>
          <p:nvPicPr>
            <p:cNvPr id="139" name="Graphic 138" descr="Medical with solid fill">
              <a:extLst>
                <a:ext uri="{FF2B5EF4-FFF2-40B4-BE49-F238E27FC236}">
                  <a16:creationId xmlns:a16="http://schemas.microsoft.com/office/drawing/2014/main" id="{9E2772D8-DAD6-A1DB-7031-32F4644583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11001" y="1029497"/>
              <a:ext cx="523830" cy="523830"/>
            </a:xfrm>
            <a:prstGeom prst="rect">
              <a:avLst/>
            </a:prstGeom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30E2981-53A1-838F-AC28-5C1F33CC3597}"/>
              </a:ext>
            </a:extLst>
          </p:cNvPr>
          <p:cNvGrpSpPr/>
          <p:nvPr/>
        </p:nvGrpSpPr>
        <p:grpSpPr>
          <a:xfrm>
            <a:off x="6237485" y="866408"/>
            <a:ext cx="557834" cy="519693"/>
            <a:chOff x="4692528" y="1074728"/>
            <a:chExt cx="557834" cy="519693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5AC56B0-57A7-92BA-03BA-25D1FA8529EE}"/>
                </a:ext>
              </a:extLst>
            </p:cNvPr>
            <p:cNvSpPr/>
            <p:nvPr/>
          </p:nvSpPr>
          <p:spPr>
            <a:xfrm>
              <a:off x="4692528" y="1074728"/>
              <a:ext cx="557834" cy="5196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IN"/>
            </a:p>
          </p:txBody>
        </p:sp>
        <p:pic>
          <p:nvPicPr>
            <p:cNvPr id="142" name="Graphic 141" descr="Stethoscope with solid fill">
              <a:extLst>
                <a:ext uri="{FF2B5EF4-FFF2-40B4-BE49-F238E27FC236}">
                  <a16:creationId xmlns:a16="http://schemas.microsoft.com/office/drawing/2014/main" id="{66D39532-4272-14E8-028E-CADF072624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47727" y="1117779"/>
              <a:ext cx="447435" cy="447435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747DCD0-135D-2CA2-6905-68068CEB391E}"/>
              </a:ext>
            </a:extLst>
          </p:cNvPr>
          <p:cNvGrpSpPr/>
          <p:nvPr/>
        </p:nvGrpSpPr>
        <p:grpSpPr>
          <a:xfrm>
            <a:off x="6182285" y="4901599"/>
            <a:ext cx="557834" cy="519693"/>
            <a:chOff x="5521820" y="1053971"/>
            <a:chExt cx="557834" cy="519693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0E47E47-4F1E-D189-AF12-9200F7F86D14}"/>
                </a:ext>
              </a:extLst>
            </p:cNvPr>
            <p:cNvSpPr/>
            <p:nvPr/>
          </p:nvSpPr>
          <p:spPr>
            <a:xfrm>
              <a:off x="5521820" y="1053971"/>
              <a:ext cx="557834" cy="5196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IN"/>
            </a:p>
          </p:txBody>
        </p:sp>
        <p:pic>
          <p:nvPicPr>
            <p:cNvPr id="144" name="Graphic 143" descr="Bar graph with upward trend with solid fill">
              <a:extLst>
                <a:ext uri="{FF2B5EF4-FFF2-40B4-BE49-F238E27FC236}">
                  <a16:creationId xmlns:a16="http://schemas.microsoft.com/office/drawing/2014/main" id="{D5C77724-93F2-EDBD-4B55-7D83396BE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7080" y="1084062"/>
              <a:ext cx="447313" cy="447313"/>
            </a:xfrm>
            <a:prstGeom prst="rect">
              <a:avLst/>
            </a:prstGeom>
          </p:spPr>
        </p:pic>
      </p:grp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E2A765A4-40EB-4CE2-9C31-FD95A87F8B45}"/>
              </a:ext>
            </a:extLst>
          </p:cNvPr>
          <p:cNvSpPr/>
          <p:nvPr/>
        </p:nvSpPr>
        <p:spPr>
          <a:xfrm>
            <a:off x="6203385" y="6166243"/>
            <a:ext cx="5740487" cy="5972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r>
              <a:rPr lang="en-IN" sz="1300" b="1" dirty="0">
                <a:solidFill>
                  <a:schemeClr val="tx1"/>
                </a:solidFill>
                <a:latin typeface="Aptos" panose="020B0004020202020204" pitchFamily="34" charset="0"/>
              </a:rPr>
              <a:t>Sustainable Scalability:</a:t>
            </a:r>
            <a:r>
              <a:rPr lang="en-IN" sz="13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sz="1300" dirty="0">
                <a:solidFill>
                  <a:schemeClr val="tx1"/>
                </a:solidFill>
                <a:latin typeface="Aptos" panose="020B0004020202020204" pitchFamily="34" charset="0"/>
              </a:rPr>
              <a:t>Edge-deployable design scales cleanly as the AWS network grows toward 1,400+ stations under Mission Mausam.</a:t>
            </a:r>
            <a:endParaRPr lang="en-IN" sz="13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8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4" name="Google Shape;174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SIH26073 — AI/ML Anomaly Detection for AWS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CF0F4A52-78EA-7C83-A71D-CB94B5F4E8C0}"/>
              </a:ext>
            </a:extLst>
          </p:cNvPr>
          <p:cNvSpPr/>
          <p:nvPr/>
        </p:nvSpPr>
        <p:spPr>
          <a:xfrm>
            <a:off x="330219" y="1041318"/>
            <a:ext cx="11707998" cy="5051756"/>
          </a:xfrm>
          <a:prstGeom prst="round1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[1]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Kiren Rijiju / IMD, "Delhi's Mungeshpur AWS reading of 52.9°C attributed to a 3°C sensor error," Ministry of Earth Sciences press clarification, Jun. 2024. [Online]. Available: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livemint.com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.</a:t>
            </a:r>
          </a:p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[2]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World Meteorological Organization,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Guide to Instruments and Methods of Observation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(WMO-No. 8), Geneva, Switzerland, 2023 ed.</a:t>
            </a:r>
          </a:p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[3]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World Meteorological Organization,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Manual on the WMO Integrated Global Observing System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(WMO-No. 1160), incl. WIGOS Station Identifier (WSI) specification.</a:t>
            </a:r>
          </a:p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[4]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I. A. Seierstad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et al.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, "TITAN automatic spatial quality control of meteorological in-situ observations,"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Adv. Sci. Res.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, vol. 17, pp. 153–163, 2020, doi: 10.5194/asr-17-153-2020.</a:t>
            </a:r>
          </a:p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[5]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H. Wu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et al.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, "TimesNet: Temporal 2D-Variation Modeling for General Time Series Analysis," in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Proc. ICLR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, 2023.</a:t>
            </a:r>
          </a:p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[6]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P. J. Rousseeuw and K. Van Driessen, "A Fast Algorithm for the Minimum Covariance Determinant Estimator,"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Technometrics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, vol. 41, no. 3, pp. 212–223, 1999.</a:t>
            </a:r>
          </a:p>
          <a:p>
            <a:pPr>
              <a:lnSpc>
                <a:spcPct val="114999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  <a:cs typeface="Arial"/>
              </a:rPr>
              <a:t>[7]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 Ministry of Earth Sciences (PIB), "Mission Mausam — ₹2,000 crore initiative for a Weather Ready and Climate Smart India," Govt. of India, 2025. [Online]. Available: </a:t>
            </a:r>
            <a:r>
              <a:rPr lang="en-US" sz="1500" i="1" dirty="0">
                <a:solidFill>
                  <a:schemeClr val="dk1"/>
                </a:solidFill>
                <a:cs typeface="Arial"/>
              </a:rPr>
              <a:t>pib.gov.in</a:t>
            </a:r>
            <a:r>
              <a:rPr lang="en-US" sz="1500" dirty="0">
                <a:solidFill>
                  <a:schemeClr val="dk1"/>
                </a:solidFill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1227</Words>
  <Application>Microsoft Office PowerPoint</Application>
  <PresentationFormat>Widescreen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Garamond</vt:lpstr>
      <vt:lpstr>Oswald</vt:lpstr>
      <vt:lpstr>Times New Roman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SIH26073 - AI/ML-Based Intelligent Anomaly Detection for Automatic Weather Stations</dc:title>
  <dc:creator>Team</dc:creator>
  <cp:lastModifiedBy>Jay Dhake</cp:lastModifiedBy>
  <cp:revision>3</cp:revision>
  <dcterms:created xsi:type="dcterms:W3CDTF">2026-09-19T18:22:14Z</dcterms:created>
  <dcterms:modified xsi:type="dcterms:W3CDTF">2026-09-20T11:28:25Z</dcterms:modified>
</cp:coreProperties>
</file>